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Poppins Light" charset="1" panose="00000400000000000000"/>
      <p:regular r:id="rId12"/>
    </p:embeddedFont>
    <p:embeddedFont>
      <p:font typeface="Poppins" charset="1" panose="00000500000000000000"/>
      <p:regular r:id="rId13"/>
    </p:embeddedFont>
    <p:embeddedFont>
      <p:font typeface="Poppins Bold Italics" charset="1" panose="00000800000000000000"/>
      <p:regular r:id="rId14"/>
    </p:embeddedFont>
    <p:embeddedFont>
      <p:font typeface="Poppins Bold" charset="1" panose="000008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84134" y="1702613"/>
            <a:ext cx="16230600" cy="6881774"/>
          </a:xfrm>
          <a:custGeom>
            <a:avLst/>
            <a:gdLst/>
            <a:ahLst/>
            <a:cxnLst/>
            <a:rect r="r" b="b" t="t" l="l"/>
            <a:pathLst>
              <a:path h="6881774" w="16230600">
                <a:moveTo>
                  <a:pt x="0" y="0"/>
                </a:moveTo>
                <a:lnTo>
                  <a:pt x="16230600" y="0"/>
                </a:lnTo>
                <a:lnTo>
                  <a:pt x="16230600" y="6881774"/>
                </a:lnTo>
                <a:lnTo>
                  <a:pt x="0" y="6881774"/>
                </a:lnTo>
                <a:lnTo>
                  <a:pt x="0" y="0"/>
                </a:lnTo>
                <a:close/>
              </a:path>
            </a:pathLst>
          </a:custGeom>
          <a:blipFill>
            <a:blip r:embed="rId2">
              <a:alphaModFix amt="60000"/>
            </a:blip>
            <a:stretch>
              <a:fillRect l="0" t="0" r="0" b="0"/>
            </a:stretch>
          </a:blipFill>
        </p:spPr>
      </p:sp>
      <p:sp>
        <p:nvSpPr>
          <p:cNvPr name="TextBox 3" id="3"/>
          <p:cNvSpPr txBox="true"/>
          <p:nvPr/>
        </p:nvSpPr>
        <p:spPr>
          <a:xfrm rot="0">
            <a:off x="2571750" y="1826438"/>
            <a:ext cx="8867614" cy="1808479"/>
          </a:xfrm>
          <a:prstGeom prst="rect">
            <a:avLst/>
          </a:prstGeom>
        </p:spPr>
        <p:txBody>
          <a:bodyPr anchor="t" rtlCol="false" tIns="0" lIns="0" bIns="0" rIns="0">
            <a:spAutoFit/>
          </a:bodyPr>
          <a:lstStyle/>
          <a:p>
            <a:pPr algn="l">
              <a:lnSpc>
                <a:spcPts val="12699"/>
              </a:lnSpc>
            </a:pPr>
            <a:r>
              <a:rPr lang="en-US" sz="12699" spc="-253">
                <a:solidFill>
                  <a:srgbClr val="FFFFFF"/>
                </a:solidFill>
                <a:latin typeface="Poppins Light"/>
                <a:ea typeface="Poppins Light"/>
                <a:cs typeface="Poppins Light"/>
                <a:sym typeface="Poppins Light"/>
              </a:rPr>
              <a:t>FOREXFLOW</a:t>
            </a:r>
          </a:p>
        </p:txBody>
      </p:sp>
      <p:sp>
        <p:nvSpPr>
          <p:cNvPr name="TextBox 4" id="4"/>
          <p:cNvSpPr txBox="true"/>
          <p:nvPr/>
        </p:nvSpPr>
        <p:spPr>
          <a:xfrm rot="0">
            <a:off x="2571750" y="7887683"/>
            <a:ext cx="2579699" cy="354671"/>
          </a:xfrm>
          <a:prstGeom prst="rect">
            <a:avLst/>
          </a:prstGeom>
        </p:spPr>
        <p:txBody>
          <a:bodyPr anchor="t" rtlCol="false" tIns="0" lIns="0" bIns="0" rIns="0">
            <a:spAutoFit/>
          </a:bodyPr>
          <a:lstStyle/>
          <a:p>
            <a:pPr algn="l">
              <a:lnSpc>
                <a:spcPts val="2452"/>
              </a:lnSpc>
            </a:pPr>
            <a:r>
              <a:rPr lang="en-US" sz="2452">
                <a:solidFill>
                  <a:srgbClr val="FFFFFF"/>
                </a:solidFill>
                <a:latin typeface="Poppins"/>
                <a:ea typeface="Poppins"/>
                <a:cs typeface="Poppins"/>
                <a:sym typeface="Poppins"/>
              </a:rPr>
              <a:t>OCTOBER 2025</a:t>
            </a:r>
          </a:p>
        </p:txBody>
      </p:sp>
      <p:sp>
        <p:nvSpPr>
          <p:cNvPr name="TextBox 5" id="5"/>
          <p:cNvSpPr txBox="true"/>
          <p:nvPr/>
        </p:nvSpPr>
        <p:spPr>
          <a:xfrm rot="0">
            <a:off x="7213123" y="7887683"/>
            <a:ext cx="6071324" cy="364794"/>
          </a:xfrm>
          <a:prstGeom prst="rect">
            <a:avLst/>
          </a:prstGeom>
        </p:spPr>
        <p:txBody>
          <a:bodyPr anchor="t" rtlCol="false" tIns="0" lIns="0" bIns="0" rIns="0">
            <a:spAutoFit/>
          </a:bodyPr>
          <a:lstStyle/>
          <a:p>
            <a:pPr algn="r">
              <a:lnSpc>
                <a:spcPts val="2518"/>
              </a:lnSpc>
            </a:pPr>
            <a:r>
              <a:rPr lang="en-US" sz="2518">
                <a:solidFill>
                  <a:srgbClr val="FFFFFF"/>
                </a:solidFill>
                <a:latin typeface="Poppins Light"/>
                <a:ea typeface="Poppins Light"/>
                <a:cs typeface="Poppins Light"/>
                <a:sym typeface="Poppins Light"/>
              </a:rPr>
              <a:t>Introduction To Artificial Intelligence</a:t>
            </a:r>
          </a:p>
        </p:txBody>
      </p:sp>
      <p:sp>
        <p:nvSpPr>
          <p:cNvPr name="TextBox 6" id="6"/>
          <p:cNvSpPr txBox="true"/>
          <p:nvPr/>
        </p:nvSpPr>
        <p:spPr>
          <a:xfrm rot="0">
            <a:off x="2571750" y="4785830"/>
            <a:ext cx="14388184" cy="3263265"/>
          </a:xfrm>
          <a:prstGeom prst="rect">
            <a:avLst/>
          </a:prstGeom>
        </p:spPr>
        <p:txBody>
          <a:bodyPr anchor="t" rtlCol="false" tIns="0" lIns="0" bIns="0" rIns="0">
            <a:spAutoFit/>
          </a:bodyPr>
          <a:lstStyle/>
          <a:p>
            <a:pPr algn="l">
              <a:lnSpc>
                <a:spcPts val="3240"/>
              </a:lnSpc>
            </a:pPr>
            <a:r>
              <a:rPr lang="en-US" sz="1800">
                <a:solidFill>
                  <a:srgbClr val="FFFFFF"/>
                </a:solidFill>
                <a:latin typeface="Poppins Light"/>
                <a:ea typeface="Poppins Light"/>
                <a:cs typeface="Poppins Light"/>
                <a:sym typeface="Poppins Light"/>
              </a:rPr>
              <a:t>Aarav Purohit | Project Lead | ap2422@scarletmail.rutgers.edu</a:t>
            </a:r>
          </a:p>
          <a:p>
            <a:pPr algn="l">
              <a:lnSpc>
                <a:spcPts val="3240"/>
              </a:lnSpc>
            </a:pPr>
            <a:r>
              <a:rPr lang="en-US" sz="1800">
                <a:solidFill>
                  <a:srgbClr val="FFFFFF"/>
                </a:solidFill>
                <a:latin typeface="Poppins Light"/>
                <a:ea typeface="Poppins Light"/>
                <a:cs typeface="Poppins Light"/>
                <a:sym typeface="Poppins Light"/>
              </a:rPr>
              <a:t>Matthew Imh</a:t>
            </a:r>
            <a:r>
              <a:rPr lang="en-US" sz="1800">
                <a:solidFill>
                  <a:srgbClr val="FFFFFF"/>
                </a:solidFill>
                <a:latin typeface="Poppins Light"/>
                <a:ea typeface="Poppins Light"/>
                <a:cs typeface="Poppins Light"/>
                <a:sym typeface="Poppins Light"/>
              </a:rPr>
              <a:t>off | Project Evaluator | </a:t>
            </a:r>
            <a:r>
              <a:rPr lang="en-US" sz="1800">
                <a:solidFill>
                  <a:srgbClr val="FFFFFF"/>
                </a:solidFill>
                <a:latin typeface="Poppins Light"/>
                <a:ea typeface="Poppins Light"/>
                <a:cs typeface="Poppins Light"/>
                <a:sym typeface="Poppins Light"/>
              </a:rPr>
              <a:t>mbi13@scarletmail.rutgers.edu</a:t>
            </a:r>
          </a:p>
          <a:p>
            <a:pPr algn="l">
              <a:lnSpc>
                <a:spcPts val="3240"/>
              </a:lnSpc>
            </a:pPr>
            <a:r>
              <a:rPr lang="en-US" sz="1800">
                <a:solidFill>
                  <a:srgbClr val="FFFFFF"/>
                </a:solidFill>
                <a:latin typeface="Poppins Light"/>
                <a:ea typeface="Poppins Light"/>
                <a:cs typeface="Poppins Light"/>
                <a:sym typeface="Poppins Light"/>
              </a:rPr>
              <a:t>Juncheng(Robin) Zhang | Project Implementer | </a:t>
            </a:r>
            <a:r>
              <a:rPr lang="en-US" sz="1800">
                <a:solidFill>
                  <a:srgbClr val="FFFFFF"/>
                </a:solidFill>
                <a:latin typeface="Poppins Light"/>
                <a:ea typeface="Poppins Light"/>
                <a:cs typeface="Poppins Light"/>
                <a:sym typeface="Poppins Light"/>
              </a:rPr>
              <a:t>jz972@scarletmail.rutgers.edu</a:t>
            </a:r>
          </a:p>
          <a:p>
            <a:pPr algn="l">
              <a:lnSpc>
                <a:spcPts val="3240"/>
              </a:lnSpc>
            </a:pPr>
            <a:r>
              <a:rPr lang="en-US" sz="1800">
                <a:solidFill>
                  <a:srgbClr val="FFFFFF"/>
                </a:solidFill>
                <a:latin typeface="Poppins Light"/>
                <a:ea typeface="Poppins Light"/>
                <a:cs typeface="Poppins Light"/>
                <a:sym typeface="Poppins Light"/>
              </a:rPr>
              <a:t>Muhammad Jahanzeb | Project Implementer | mj836@scarletmail.rutgers.edu</a:t>
            </a:r>
          </a:p>
          <a:p>
            <a:pPr algn="l">
              <a:lnSpc>
                <a:spcPts val="3240"/>
              </a:lnSpc>
            </a:pPr>
            <a:r>
              <a:rPr lang="en-US" sz="1800">
                <a:solidFill>
                  <a:srgbClr val="FFFFFF"/>
                </a:solidFill>
                <a:latin typeface="Poppins Light"/>
                <a:ea typeface="Poppins Light"/>
                <a:cs typeface="Poppins Light"/>
                <a:sym typeface="Poppins Light"/>
              </a:rPr>
              <a:t>Smaya Reddy | Project Report Writer | skr100@scarletmail.rutgers.edu </a:t>
            </a:r>
          </a:p>
          <a:p>
            <a:pPr algn="l">
              <a:lnSpc>
                <a:spcPts val="3240"/>
              </a:lnSpc>
            </a:pPr>
          </a:p>
          <a:p>
            <a:pPr algn="l">
              <a:lnSpc>
                <a:spcPts val="3240"/>
              </a:lnSpc>
            </a:pPr>
          </a:p>
          <a:p>
            <a:pPr algn="l">
              <a:lnSpc>
                <a:spcPts val="3240"/>
              </a:lnSpc>
            </a:pPr>
          </a:p>
        </p:txBody>
      </p:sp>
      <p:sp>
        <p:nvSpPr>
          <p:cNvPr name="TextBox 7" id="7"/>
          <p:cNvSpPr txBox="true"/>
          <p:nvPr/>
        </p:nvSpPr>
        <p:spPr>
          <a:xfrm rot="0">
            <a:off x="2571750" y="3955618"/>
            <a:ext cx="11160782" cy="652386"/>
          </a:xfrm>
          <a:prstGeom prst="rect">
            <a:avLst/>
          </a:prstGeom>
        </p:spPr>
        <p:txBody>
          <a:bodyPr anchor="t" rtlCol="false" tIns="0" lIns="0" bIns="0" rIns="0">
            <a:spAutoFit/>
          </a:bodyPr>
          <a:lstStyle/>
          <a:p>
            <a:pPr algn="l">
              <a:lnSpc>
                <a:spcPts val="2434"/>
              </a:lnSpc>
              <a:spcBef>
                <a:spcPct val="0"/>
              </a:spcBef>
            </a:pPr>
            <a:r>
              <a:rPr lang="en-US" b="true" sz="2434" i="true">
                <a:solidFill>
                  <a:srgbClr val="FFFFFF"/>
                </a:solidFill>
                <a:latin typeface="Poppins Bold Italics"/>
                <a:ea typeface="Poppins Bold Italics"/>
                <a:cs typeface="Poppins Bold Italics"/>
                <a:sym typeface="Poppins Bold Italics"/>
              </a:rPr>
              <a:t>Precision. Intelligence. Context. The New Era of Trade.</a:t>
            </a:r>
          </a:p>
          <a:p>
            <a:pPr algn="l">
              <a:lnSpc>
                <a:spcPts val="2434"/>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2169819" y="-2496048"/>
            <a:ext cx="21842778" cy="9261338"/>
          </a:xfrm>
          <a:custGeom>
            <a:avLst/>
            <a:gdLst/>
            <a:ahLst/>
            <a:cxnLst/>
            <a:rect r="r" b="b" t="t" l="l"/>
            <a:pathLst>
              <a:path h="9261338" w="21842778">
                <a:moveTo>
                  <a:pt x="0" y="0"/>
                </a:moveTo>
                <a:lnTo>
                  <a:pt x="21842778" y="0"/>
                </a:lnTo>
                <a:lnTo>
                  <a:pt x="21842778" y="9261338"/>
                </a:lnTo>
                <a:lnTo>
                  <a:pt x="0" y="9261338"/>
                </a:lnTo>
                <a:lnTo>
                  <a:pt x="0" y="0"/>
                </a:lnTo>
                <a:close/>
              </a:path>
            </a:pathLst>
          </a:custGeom>
          <a:blipFill>
            <a:blip r:embed="rId2">
              <a:alphaModFix amt="60000"/>
            </a:blip>
            <a:stretch>
              <a:fillRect l="0" t="0" r="0" b="0"/>
            </a:stretch>
          </a:blipFill>
        </p:spPr>
      </p:sp>
      <p:sp>
        <p:nvSpPr>
          <p:cNvPr name="AutoShape 3" id="3"/>
          <p:cNvSpPr/>
          <p:nvPr/>
        </p:nvSpPr>
        <p:spPr>
          <a:xfrm>
            <a:off x="2571750" y="2866444"/>
            <a:ext cx="567898" cy="0"/>
          </a:xfrm>
          <a:prstGeom prst="line">
            <a:avLst/>
          </a:prstGeom>
          <a:ln cap="flat" w="38100">
            <a:solidFill>
              <a:srgbClr val="D2B99A"/>
            </a:solidFill>
            <a:prstDash val="solid"/>
            <a:headEnd type="none" len="sm" w="sm"/>
            <a:tailEnd type="none" len="sm" w="sm"/>
          </a:ln>
        </p:spPr>
      </p:sp>
      <p:sp>
        <p:nvSpPr>
          <p:cNvPr name="Freeform 4" id="4"/>
          <p:cNvSpPr/>
          <p:nvPr/>
        </p:nvSpPr>
        <p:spPr>
          <a:xfrm flipH="false" flipV="false" rot="0">
            <a:off x="2571750" y="5349845"/>
            <a:ext cx="1425186" cy="1149903"/>
          </a:xfrm>
          <a:custGeom>
            <a:avLst/>
            <a:gdLst/>
            <a:ahLst/>
            <a:cxnLst/>
            <a:rect r="r" b="b" t="t" l="l"/>
            <a:pathLst>
              <a:path h="1149903" w="1425186">
                <a:moveTo>
                  <a:pt x="0" y="0"/>
                </a:moveTo>
                <a:lnTo>
                  <a:pt x="1425186" y="0"/>
                </a:lnTo>
                <a:lnTo>
                  <a:pt x="1425186" y="1149902"/>
                </a:lnTo>
                <a:lnTo>
                  <a:pt x="0" y="11499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7707160" y="5487557"/>
            <a:ext cx="949618" cy="1012190"/>
          </a:xfrm>
          <a:custGeom>
            <a:avLst/>
            <a:gdLst/>
            <a:ahLst/>
            <a:cxnLst/>
            <a:rect r="r" b="b" t="t" l="l"/>
            <a:pathLst>
              <a:path h="1012190" w="949618">
                <a:moveTo>
                  <a:pt x="0" y="0"/>
                </a:moveTo>
                <a:lnTo>
                  <a:pt x="949618" y="0"/>
                </a:lnTo>
                <a:lnTo>
                  <a:pt x="949618" y="1012190"/>
                </a:lnTo>
                <a:lnTo>
                  <a:pt x="0" y="101219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2842570" y="5487557"/>
            <a:ext cx="1021476" cy="1012190"/>
          </a:xfrm>
          <a:custGeom>
            <a:avLst/>
            <a:gdLst/>
            <a:ahLst/>
            <a:cxnLst/>
            <a:rect r="r" b="b" t="t" l="l"/>
            <a:pathLst>
              <a:path h="1012190" w="1021476">
                <a:moveTo>
                  <a:pt x="0" y="0"/>
                </a:moveTo>
                <a:lnTo>
                  <a:pt x="1021476" y="0"/>
                </a:lnTo>
                <a:lnTo>
                  <a:pt x="1021476" y="1012190"/>
                </a:lnTo>
                <a:lnTo>
                  <a:pt x="0" y="101219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2571750" y="1952625"/>
            <a:ext cx="8743599"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GOALS &amp; DELIVERABLES</a:t>
            </a:r>
          </a:p>
        </p:txBody>
      </p:sp>
      <p:sp>
        <p:nvSpPr>
          <p:cNvPr name="TextBox 8" id="8"/>
          <p:cNvSpPr txBox="true"/>
          <p:nvPr/>
        </p:nvSpPr>
        <p:spPr>
          <a:xfrm rot="0">
            <a:off x="2571750" y="3431510"/>
            <a:ext cx="14208455" cy="1565910"/>
          </a:xfrm>
          <a:prstGeom prst="rect">
            <a:avLst/>
          </a:prstGeom>
        </p:spPr>
        <p:txBody>
          <a:bodyPr anchor="t" rtlCol="false" tIns="0" lIns="0" bIns="0" rIns="0">
            <a:spAutoFit/>
          </a:bodyPr>
          <a:lstStyle/>
          <a:p>
            <a:pPr algn="l">
              <a:lnSpc>
                <a:spcPts val="2400"/>
              </a:lnSpc>
              <a:spcBef>
                <a:spcPct val="0"/>
              </a:spcBef>
            </a:pPr>
            <a:r>
              <a:rPr lang="en-US" sz="2400">
                <a:solidFill>
                  <a:srgbClr val="FFFFFF"/>
                </a:solidFill>
                <a:latin typeface="Poppins Light"/>
                <a:ea typeface="Poppins Light"/>
                <a:cs typeface="Poppins Light"/>
                <a:sym typeface="Poppins Light"/>
              </a:rPr>
              <a:t>T</a:t>
            </a:r>
            <a:r>
              <a:rPr lang="en-US" sz="2400">
                <a:solidFill>
                  <a:srgbClr val="FFFFFF"/>
                </a:solidFill>
                <a:latin typeface="Poppins Light"/>
                <a:ea typeface="Poppins Light"/>
                <a:cs typeface="Poppins Light"/>
                <a:sym typeface="Poppins Light"/>
              </a:rPr>
              <a:t>o design an AI-powered Forex trading simulator </a:t>
            </a:r>
            <a:r>
              <a:rPr lang="en-US" b="true" sz="2400">
                <a:solidFill>
                  <a:srgbClr val="FFFFFF"/>
                </a:solidFill>
                <a:latin typeface="Poppins Bold"/>
                <a:ea typeface="Poppins Bold"/>
                <a:cs typeface="Poppins Bold"/>
                <a:sym typeface="Poppins Bold"/>
              </a:rPr>
              <a:t>Webapp</a:t>
            </a:r>
            <a:r>
              <a:rPr lang="en-US" sz="2400">
                <a:solidFill>
                  <a:srgbClr val="FFFFFF"/>
                </a:solidFill>
                <a:latin typeface="Poppins Light"/>
                <a:ea typeface="Poppins Light"/>
                <a:cs typeface="Poppins Light"/>
                <a:sym typeface="Poppins Light"/>
              </a:rPr>
              <a:t> that uses the Model Context Protocol (MCP) to coordinate multiple AI reasoning methods — search, constraint satisfaction, and probabilistic reasoning — for dynamic trading decisions.</a:t>
            </a:r>
          </a:p>
          <a:p>
            <a:pPr algn="l">
              <a:lnSpc>
                <a:spcPts val="2400"/>
              </a:lnSpc>
              <a:spcBef>
                <a:spcPct val="0"/>
              </a:spcBef>
            </a:pPr>
          </a:p>
          <a:p>
            <a:pPr algn="l">
              <a:lnSpc>
                <a:spcPts val="2400"/>
              </a:lnSpc>
              <a:spcBef>
                <a:spcPct val="0"/>
              </a:spcBef>
            </a:pPr>
          </a:p>
        </p:txBody>
      </p:sp>
      <p:sp>
        <p:nvSpPr>
          <p:cNvPr name="TextBox 9" id="9"/>
          <p:cNvSpPr txBox="true"/>
          <p:nvPr/>
        </p:nvSpPr>
        <p:spPr>
          <a:xfrm rot="0">
            <a:off x="2571750" y="6874438"/>
            <a:ext cx="3937635" cy="509905"/>
          </a:xfrm>
          <a:prstGeom prst="rect">
            <a:avLst/>
          </a:prstGeom>
        </p:spPr>
        <p:txBody>
          <a:bodyPr anchor="t" rtlCol="false" tIns="0" lIns="0" bIns="0" rIns="0">
            <a:spAutoFit/>
          </a:bodyPr>
          <a:lstStyle/>
          <a:p>
            <a:pPr algn="l">
              <a:lnSpc>
                <a:spcPts val="3919"/>
              </a:lnSpc>
            </a:pPr>
            <a:r>
              <a:rPr lang="en-US" sz="2799">
                <a:solidFill>
                  <a:srgbClr val="FFFFFF"/>
                </a:solidFill>
                <a:latin typeface="Poppins"/>
                <a:ea typeface="Poppins"/>
                <a:cs typeface="Poppins"/>
                <a:sym typeface="Poppins"/>
              </a:rPr>
              <a:t>TrendSense</a:t>
            </a:r>
          </a:p>
        </p:txBody>
      </p:sp>
      <p:sp>
        <p:nvSpPr>
          <p:cNvPr name="TextBox 10" id="10"/>
          <p:cNvSpPr txBox="true"/>
          <p:nvPr/>
        </p:nvSpPr>
        <p:spPr>
          <a:xfrm rot="0">
            <a:off x="7707160" y="6874438"/>
            <a:ext cx="3937635" cy="509905"/>
          </a:xfrm>
          <a:prstGeom prst="rect">
            <a:avLst/>
          </a:prstGeom>
        </p:spPr>
        <p:txBody>
          <a:bodyPr anchor="t" rtlCol="false" tIns="0" lIns="0" bIns="0" rIns="0">
            <a:spAutoFit/>
          </a:bodyPr>
          <a:lstStyle/>
          <a:p>
            <a:pPr algn="l">
              <a:lnSpc>
                <a:spcPts val="3919"/>
              </a:lnSpc>
            </a:pPr>
            <a:r>
              <a:rPr lang="en-US" sz="2799">
                <a:solidFill>
                  <a:srgbClr val="FFFFFF"/>
                </a:solidFill>
                <a:latin typeface="Poppins"/>
                <a:ea typeface="Poppins"/>
                <a:cs typeface="Poppins"/>
                <a:sym typeface="Poppins"/>
              </a:rPr>
              <a:t>RiskGuard</a:t>
            </a:r>
          </a:p>
        </p:txBody>
      </p:sp>
      <p:sp>
        <p:nvSpPr>
          <p:cNvPr name="TextBox 11" id="11"/>
          <p:cNvSpPr txBox="true"/>
          <p:nvPr/>
        </p:nvSpPr>
        <p:spPr>
          <a:xfrm rot="0">
            <a:off x="12842570" y="6765177"/>
            <a:ext cx="3937635" cy="509905"/>
          </a:xfrm>
          <a:prstGeom prst="rect">
            <a:avLst/>
          </a:prstGeom>
        </p:spPr>
        <p:txBody>
          <a:bodyPr anchor="t" rtlCol="false" tIns="0" lIns="0" bIns="0" rIns="0">
            <a:spAutoFit/>
          </a:bodyPr>
          <a:lstStyle/>
          <a:p>
            <a:pPr algn="l">
              <a:lnSpc>
                <a:spcPts val="3919"/>
              </a:lnSpc>
            </a:pPr>
            <a:r>
              <a:rPr lang="en-US" sz="2799">
                <a:solidFill>
                  <a:srgbClr val="FFFFFF"/>
                </a:solidFill>
                <a:latin typeface="Poppins"/>
                <a:ea typeface="Poppins"/>
                <a:cs typeface="Poppins"/>
                <a:sym typeface="Poppins"/>
              </a:rPr>
              <a:t>OptiTrade</a:t>
            </a:r>
          </a:p>
        </p:txBody>
      </p:sp>
      <p:sp>
        <p:nvSpPr>
          <p:cNvPr name="TextBox 12" id="12"/>
          <p:cNvSpPr txBox="true"/>
          <p:nvPr/>
        </p:nvSpPr>
        <p:spPr>
          <a:xfrm rot="0">
            <a:off x="2571750" y="7600243"/>
            <a:ext cx="3937635" cy="1509395"/>
          </a:xfrm>
          <a:prstGeom prst="rect">
            <a:avLst/>
          </a:prstGeom>
        </p:spPr>
        <p:txBody>
          <a:bodyPr anchor="t" rtlCol="false" tIns="0" lIns="0" bIns="0" rIns="0">
            <a:spAutoFit/>
          </a:bodyPr>
          <a:lstStyle/>
          <a:p>
            <a:pPr algn="l">
              <a:lnSpc>
                <a:spcPts val="2519"/>
              </a:lnSpc>
            </a:pPr>
            <a:r>
              <a:rPr lang="en-US" sz="1799">
                <a:solidFill>
                  <a:srgbClr val="C3C5C6"/>
                </a:solidFill>
                <a:latin typeface="Poppins Light"/>
                <a:ea typeface="Poppins Light"/>
                <a:cs typeface="Poppins Light"/>
                <a:sym typeface="Poppins Light"/>
              </a:rPr>
              <a:t>Uses </a:t>
            </a:r>
            <a:r>
              <a:rPr lang="en-US" sz="1799" b="true">
                <a:solidFill>
                  <a:srgbClr val="C3C5C6"/>
                </a:solidFill>
                <a:latin typeface="Poppins Bold"/>
                <a:ea typeface="Poppins Bold"/>
                <a:cs typeface="Poppins Bold"/>
                <a:sym typeface="Poppins Bold"/>
              </a:rPr>
              <a:t>probabilistic reasoning</a:t>
            </a:r>
            <a:r>
              <a:rPr lang="en-US" sz="1799">
                <a:solidFill>
                  <a:srgbClr val="C3C5C6"/>
                </a:solidFill>
                <a:latin typeface="Poppins Light"/>
                <a:ea typeface="Poppins Light"/>
                <a:cs typeface="Poppins Light"/>
                <a:sym typeface="Poppins Light"/>
              </a:rPr>
              <a:t> to analyze historical currency data and predict future market trends.</a:t>
            </a:r>
          </a:p>
          <a:p>
            <a:pPr algn="l">
              <a:lnSpc>
                <a:spcPts val="2239"/>
              </a:lnSpc>
            </a:pPr>
          </a:p>
          <a:p>
            <a:pPr algn="l">
              <a:lnSpc>
                <a:spcPts val="2239"/>
              </a:lnSpc>
            </a:pPr>
          </a:p>
        </p:txBody>
      </p:sp>
      <p:sp>
        <p:nvSpPr>
          <p:cNvPr name="TextBox 13" id="13"/>
          <p:cNvSpPr txBox="true"/>
          <p:nvPr/>
        </p:nvSpPr>
        <p:spPr>
          <a:xfrm rot="0">
            <a:off x="7707160" y="7600243"/>
            <a:ext cx="3937635" cy="1268730"/>
          </a:xfrm>
          <a:prstGeom prst="rect">
            <a:avLst/>
          </a:prstGeom>
        </p:spPr>
        <p:txBody>
          <a:bodyPr anchor="t" rtlCol="false" tIns="0" lIns="0" bIns="0" rIns="0">
            <a:spAutoFit/>
          </a:bodyPr>
          <a:lstStyle/>
          <a:p>
            <a:pPr algn="l">
              <a:lnSpc>
                <a:spcPts val="2519"/>
              </a:lnSpc>
            </a:pPr>
            <a:r>
              <a:rPr lang="en-US" sz="1799">
                <a:solidFill>
                  <a:srgbClr val="C3C5C6"/>
                </a:solidFill>
                <a:latin typeface="Poppins Light"/>
                <a:ea typeface="Poppins Light"/>
                <a:cs typeface="Poppins Light"/>
                <a:sym typeface="Poppins Light"/>
              </a:rPr>
              <a:t>Applies </a:t>
            </a:r>
            <a:r>
              <a:rPr lang="en-US" sz="1799" b="true">
                <a:solidFill>
                  <a:srgbClr val="C3C5C6"/>
                </a:solidFill>
                <a:latin typeface="Poppins Bold"/>
                <a:ea typeface="Poppins Bold"/>
                <a:cs typeface="Poppins Bold"/>
                <a:sym typeface="Poppins Bold"/>
              </a:rPr>
              <a:t>constraint satisfaction</a:t>
            </a:r>
            <a:r>
              <a:rPr lang="en-US" sz="1799">
                <a:solidFill>
                  <a:srgbClr val="C3C5C6"/>
                </a:solidFill>
                <a:latin typeface="Poppins Light"/>
                <a:ea typeface="Poppins Light"/>
                <a:cs typeface="Poppins Light"/>
                <a:sym typeface="Poppins Light"/>
              </a:rPr>
              <a:t> to check all trading rules — including risk limits, leverage, and available capital.</a:t>
            </a:r>
          </a:p>
        </p:txBody>
      </p:sp>
      <p:sp>
        <p:nvSpPr>
          <p:cNvPr name="TextBox 14" id="14"/>
          <p:cNvSpPr txBox="true"/>
          <p:nvPr/>
        </p:nvSpPr>
        <p:spPr>
          <a:xfrm rot="0">
            <a:off x="12842570" y="7490982"/>
            <a:ext cx="3937635" cy="1583055"/>
          </a:xfrm>
          <a:prstGeom prst="rect">
            <a:avLst/>
          </a:prstGeom>
        </p:spPr>
        <p:txBody>
          <a:bodyPr anchor="t" rtlCol="false" tIns="0" lIns="0" bIns="0" rIns="0">
            <a:spAutoFit/>
          </a:bodyPr>
          <a:lstStyle/>
          <a:p>
            <a:pPr algn="l">
              <a:lnSpc>
                <a:spcPts val="2519"/>
              </a:lnSpc>
            </a:pPr>
            <a:r>
              <a:rPr lang="en-US" sz="1799">
                <a:solidFill>
                  <a:srgbClr val="C3C5C6"/>
                </a:solidFill>
                <a:latin typeface="Poppins Light"/>
                <a:ea typeface="Poppins Light"/>
                <a:cs typeface="Poppins Light"/>
                <a:sym typeface="Poppins Light"/>
              </a:rPr>
              <a:t>Uses AI </a:t>
            </a:r>
            <a:r>
              <a:rPr lang="en-US" sz="1799" b="true">
                <a:solidFill>
                  <a:srgbClr val="C3C5C6"/>
                </a:solidFill>
                <a:latin typeface="Poppins Bold"/>
                <a:ea typeface="Poppins Bold"/>
                <a:cs typeface="Poppins Bold"/>
                <a:sym typeface="Poppins Bold"/>
              </a:rPr>
              <a:t>search methods</a:t>
            </a:r>
            <a:r>
              <a:rPr lang="en-US" sz="1799">
                <a:solidFill>
                  <a:srgbClr val="C3C5C6"/>
                </a:solidFill>
                <a:latin typeface="Poppins Light"/>
                <a:ea typeface="Poppins Light"/>
                <a:cs typeface="Poppins Light"/>
                <a:sym typeface="Poppins Light"/>
              </a:rPr>
              <a:t> to explore multiple forex trade strategies and select the most profitable one that satisfies all constraints.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0">
            <a:off x="7881015" y="-1112315"/>
            <a:ext cx="16230600" cy="6881774"/>
          </a:xfrm>
          <a:custGeom>
            <a:avLst/>
            <a:gdLst/>
            <a:ahLst/>
            <a:cxnLst/>
            <a:rect r="r" b="b" t="t" l="l"/>
            <a:pathLst>
              <a:path h="6881774" w="16230600">
                <a:moveTo>
                  <a:pt x="16230600" y="0"/>
                </a:moveTo>
                <a:lnTo>
                  <a:pt x="0" y="0"/>
                </a:lnTo>
                <a:lnTo>
                  <a:pt x="0" y="6881774"/>
                </a:lnTo>
                <a:lnTo>
                  <a:pt x="16230600" y="6881774"/>
                </a:lnTo>
                <a:lnTo>
                  <a:pt x="16230600" y="0"/>
                </a:lnTo>
                <a:close/>
              </a:path>
            </a:pathLst>
          </a:custGeom>
          <a:blipFill>
            <a:blip r:embed="rId2">
              <a:alphaModFix amt="60000"/>
            </a:blip>
            <a:stretch>
              <a:fillRect l="0" t="0" r="0" b="0"/>
            </a:stretch>
          </a:blipFill>
        </p:spPr>
      </p:sp>
      <p:sp>
        <p:nvSpPr>
          <p:cNvPr name="AutoShape 3" id="3"/>
          <p:cNvSpPr/>
          <p:nvPr/>
        </p:nvSpPr>
        <p:spPr>
          <a:xfrm>
            <a:off x="2054703" y="2771140"/>
            <a:ext cx="567898" cy="0"/>
          </a:xfrm>
          <a:prstGeom prst="line">
            <a:avLst/>
          </a:prstGeom>
          <a:ln cap="flat" w="38100">
            <a:solidFill>
              <a:srgbClr val="D2B99A"/>
            </a:solidFill>
            <a:prstDash val="solid"/>
            <a:headEnd type="none" len="sm" w="sm"/>
            <a:tailEnd type="none" len="sm" w="sm"/>
          </a:ln>
        </p:spPr>
      </p:sp>
      <p:sp>
        <p:nvSpPr>
          <p:cNvPr name="TextBox 4" id="4"/>
          <p:cNvSpPr txBox="true"/>
          <p:nvPr/>
        </p:nvSpPr>
        <p:spPr>
          <a:xfrm rot="0">
            <a:off x="2054703" y="1952625"/>
            <a:ext cx="13661547"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PRIOR WORK &amp; EXPECTED CHALLENGES</a:t>
            </a:r>
          </a:p>
        </p:txBody>
      </p:sp>
      <p:sp>
        <p:nvSpPr>
          <p:cNvPr name="TextBox 5" id="5"/>
          <p:cNvSpPr txBox="true"/>
          <p:nvPr/>
        </p:nvSpPr>
        <p:spPr>
          <a:xfrm rot="0">
            <a:off x="2054703" y="3505200"/>
            <a:ext cx="6333950" cy="4010024"/>
          </a:xfrm>
          <a:prstGeom prst="rect">
            <a:avLst/>
          </a:prstGeom>
        </p:spPr>
        <p:txBody>
          <a:bodyPr anchor="t" rtlCol="false" tIns="0" lIns="0" bIns="0" rIns="0">
            <a:spAutoFit/>
          </a:bodyPr>
          <a:lstStyle/>
          <a:p>
            <a:pPr algn="l">
              <a:lnSpc>
                <a:spcPts val="3150"/>
              </a:lnSpc>
            </a:pPr>
            <a:r>
              <a:rPr lang="en-US" sz="2250" b="true">
                <a:solidFill>
                  <a:srgbClr val="FFFFFF"/>
                </a:solidFill>
                <a:latin typeface="Poppins Bold"/>
                <a:ea typeface="Poppins Bold"/>
                <a:cs typeface="Poppins Bold"/>
                <a:sym typeface="Poppins Bold"/>
              </a:rPr>
              <a:t>Prior Work and Experience</a:t>
            </a:r>
            <a:r>
              <a:rPr lang="en-US" sz="2250">
                <a:solidFill>
                  <a:srgbClr val="FFFFFF"/>
                </a:solidFill>
                <a:latin typeface="Poppins"/>
                <a:ea typeface="Poppins"/>
                <a:cs typeface="Poppins"/>
                <a:sym typeface="Poppins"/>
              </a:rPr>
              <a:t>:</a:t>
            </a:r>
          </a:p>
          <a:p>
            <a:pPr algn="l">
              <a:lnSpc>
                <a:spcPts val="3150"/>
              </a:lnSpc>
            </a:pPr>
          </a:p>
          <a:p>
            <a:pPr algn="l" marL="485780" indent="-242890" lvl="1">
              <a:lnSpc>
                <a:spcPts val="3150"/>
              </a:lnSpc>
              <a:buFont typeface="Arial"/>
              <a:buChar char="•"/>
            </a:pPr>
            <a:r>
              <a:rPr lang="en-US" sz="2250">
                <a:solidFill>
                  <a:srgbClr val="C3C5C6"/>
                </a:solidFill>
                <a:latin typeface="Poppins"/>
                <a:ea typeface="Poppins"/>
                <a:cs typeface="Poppins"/>
                <a:sym typeface="Poppins"/>
              </a:rPr>
              <a:t>T</a:t>
            </a:r>
            <a:r>
              <a:rPr lang="en-US" sz="2250">
                <a:solidFill>
                  <a:srgbClr val="C3C5C6"/>
                </a:solidFill>
                <a:latin typeface="Poppins"/>
                <a:ea typeface="Poppins"/>
                <a:cs typeface="Poppins"/>
                <a:sym typeface="Poppins"/>
              </a:rPr>
              <a:t>rading Stocks, Commodities, and Foreign Exchanges</a:t>
            </a:r>
          </a:p>
          <a:p>
            <a:pPr algn="l" marL="485780" indent="-242890" lvl="1">
              <a:lnSpc>
                <a:spcPts val="3150"/>
              </a:lnSpc>
              <a:buFont typeface="Arial"/>
              <a:buChar char="•"/>
            </a:pPr>
            <a:r>
              <a:rPr lang="en-US" sz="2250">
                <a:solidFill>
                  <a:srgbClr val="C3C5C6"/>
                </a:solidFill>
                <a:latin typeface="Poppins"/>
                <a:ea typeface="Poppins"/>
                <a:cs typeface="Poppins"/>
                <a:sym typeface="Poppins"/>
              </a:rPr>
              <a:t>Designed scalable front- and back-end systems.</a:t>
            </a:r>
          </a:p>
          <a:p>
            <a:pPr algn="l" marL="485780" indent="-242890" lvl="1">
              <a:lnSpc>
                <a:spcPts val="3150"/>
              </a:lnSpc>
              <a:buFont typeface="Arial"/>
              <a:buChar char="•"/>
            </a:pPr>
            <a:r>
              <a:rPr lang="en-US" sz="2250">
                <a:solidFill>
                  <a:srgbClr val="C3C5C6"/>
                </a:solidFill>
                <a:latin typeface="Poppins"/>
                <a:ea typeface="Poppins"/>
                <a:cs typeface="Poppins"/>
                <a:sym typeface="Poppins"/>
              </a:rPr>
              <a:t>Developed LLM-powered phone interaction prototypes.</a:t>
            </a:r>
          </a:p>
          <a:p>
            <a:pPr algn="l" marL="485780" indent="-242890" lvl="1">
              <a:lnSpc>
                <a:spcPts val="3150"/>
              </a:lnSpc>
              <a:buFont typeface="Arial"/>
              <a:buChar char="•"/>
            </a:pPr>
            <a:r>
              <a:rPr lang="en-US" sz="2250">
                <a:solidFill>
                  <a:srgbClr val="C3C5C6"/>
                </a:solidFill>
                <a:latin typeface="Poppins"/>
                <a:ea typeface="Poppins"/>
                <a:cs typeface="Poppins"/>
                <a:sym typeface="Poppins"/>
              </a:rPr>
              <a:t>Strong math background in modeling and analysis.</a:t>
            </a:r>
          </a:p>
        </p:txBody>
      </p:sp>
      <p:sp>
        <p:nvSpPr>
          <p:cNvPr name="TextBox 6" id="6"/>
          <p:cNvSpPr txBox="true"/>
          <p:nvPr/>
        </p:nvSpPr>
        <p:spPr>
          <a:xfrm rot="0">
            <a:off x="8586820" y="3514725"/>
            <a:ext cx="8013221" cy="5204460"/>
          </a:xfrm>
          <a:prstGeom prst="rect">
            <a:avLst/>
          </a:prstGeom>
        </p:spPr>
        <p:txBody>
          <a:bodyPr anchor="t" rtlCol="false" tIns="0" lIns="0" bIns="0" rIns="0">
            <a:spAutoFit/>
          </a:bodyPr>
          <a:lstStyle/>
          <a:p>
            <a:pPr algn="l">
              <a:lnSpc>
                <a:spcPts val="2940"/>
              </a:lnSpc>
            </a:pPr>
            <a:r>
              <a:rPr lang="en-US" sz="2100" b="true">
                <a:solidFill>
                  <a:srgbClr val="FFFFFF"/>
                </a:solidFill>
                <a:latin typeface="Poppins Bold"/>
                <a:ea typeface="Poppins Bold"/>
                <a:cs typeface="Poppins Bold"/>
                <a:sym typeface="Poppins Bold"/>
              </a:rPr>
              <a:t>Anticipated challenges with Simulator</a:t>
            </a:r>
          </a:p>
          <a:p>
            <a:pPr algn="l">
              <a:lnSpc>
                <a:spcPts val="2940"/>
              </a:lnSpc>
            </a:pPr>
          </a:p>
          <a:p>
            <a:pPr algn="l" marL="453390" indent="-226695" lvl="1">
              <a:lnSpc>
                <a:spcPts val="2940"/>
              </a:lnSpc>
              <a:buFont typeface="Arial"/>
              <a:buChar char="•"/>
            </a:pPr>
            <a:r>
              <a:rPr lang="en-US" sz="2100">
                <a:solidFill>
                  <a:srgbClr val="C3C5C6"/>
                </a:solidFill>
                <a:latin typeface="Poppins"/>
                <a:ea typeface="Poppins"/>
                <a:cs typeface="Poppins"/>
                <a:sym typeface="Poppins"/>
              </a:rPr>
              <a:t>Translating volatile Forex data into structured reasoning steps and executable decisions within MCP.</a:t>
            </a:r>
          </a:p>
          <a:p>
            <a:pPr algn="l" marL="453390" indent="-226695" lvl="1">
              <a:lnSpc>
                <a:spcPts val="2940"/>
              </a:lnSpc>
              <a:buFont typeface="Arial"/>
              <a:buChar char="•"/>
            </a:pPr>
            <a:r>
              <a:rPr lang="en-US" sz="2100">
                <a:solidFill>
                  <a:srgbClr val="C3C5C6"/>
                </a:solidFill>
                <a:latin typeface="Poppins"/>
                <a:ea typeface="Poppins"/>
                <a:cs typeface="Poppins"/>
                <a:sym typeface="Poppins"/>
              </a:rPr>
              <a:t>Tailored response for different risk tolerance and financial goals.</a:t>
            </a:r>
          </a:p>
          <a:p>
            <a:pPr algn="l" marL="453390" indent="-226695" lvl="1">
              <a:lnSpc>
                <a:spcPts val="2940"/>
              </a:lnSpc>
              <a:buFont typeface="Arial"/>
              <a:buChar char="•"/>
            </a:pPr>
            <a:r>
              <a:rPr lang="en-US" sz="2100">
                <a:solidFill>
                  <a:srgbClr val="C3C5C6"/>
                </a:solidFill>
                <a:latin typeface="Poppins"/>
                <a:ea typeface="Poppins"/>
                <a:cs typeface="Poppins"/>
                <a:sym typeface="Poppins"/>
              </a:rPr>
              <a:t>Balancing performance and interpretability in decision-making.</a:t>
            </a:r>
          </a:p>
          <a:p>
            <a:pPr algn="l" marL="453390" indent="-226695" lvl="1">
              <a:lnSpc>
                <a:spcPts val="2940"/>
              </a:lnSpc>
              <a:buFont typeface="Arial"/>
              <a:buChar char="•"/>
            </a:pPr>
            <a:r>
              <a:rPr lang="en-US" sz="2100">
                <a:solidFill>
                  <a:srgbClr val="C3C5C6"/>
                </a:solidFill>
                <a:latin typeface="Poppins"/>
                <a:ea typeface="Poppins"/>
                <a:cs typeface="Poppins"/>
                <a:sym typeface="Poppins"/>
              </a:rPr>
              <a:t>Avoiding overfitting to past data and ensuring generalization.</a:t>
            </a:r>
          </a:p>
          <a:p>
            <a:pPr algn="l" marL="453390" indent="-226695" lvl="1">
              <a:lnSpc>
                <a:spcPts val="2940"/>
              </a:lnSpc>
              <a:buFont typeface="Arial"/>
              <a:buChar char="•"/>
            </a:pPr>
            <a:r>
              <a:rPr lang="en-US" sz="2100">
                <a:solidFill>
                  <a:srgbClr val="C3C5C6"/>
                </a:solidFill>
                <a:latin typeface="Poppins"/>
                <a:ea typeface="Poppins"/>
                <a:cs typeface="Poppins"/>
                <a:sym typeface="Poppins"/>
              </a:rPr>
              <a:t>Ensuring smooth interaction between modules: LLM, MCP, frontend and backend will be challenging.</a:t>
            </a:r>
          </a:p>
          <a:p>
            <a:pPr algn="l" marL="453390" indent="-226695" lvl="1">
              <a:lnSpc>
                <a:spcPts val="2940"/>
              </a:lnSpc>
              <a:buFont typeface="Arial"/>
              <a:buChar char="•"/>
            </a:pPr>
            <a:r>
              <a:rPr lang="en-US" sz="2100">
                <a:solidFill>
                  <a:srgbClr val="C3C5C6"/>
                </a:solidFill>
                <a:latin typeface="Poppins"/>
                <a:ea typeface="Poppins"/>
                <a:cs typeface="Poppins"/>
                <a:sym typeface="Poppins"/>
              </a:rPr>
              <a:t>Making the simulator u</a:t>
            </a:r>
            <a:r>
              <a:rPr lang="en-US" sz="2100">
                <a:solidFill>
                  <a:srgbClr val="C3C5C6"/>
                </a:solidFill>
                <a:latin typeface="Poppins"/>
                <a:ea typeface="Poppins"/>
                <a:cs typeface="Poppins"/>
                <a:sym typeface="Poppins"/>
              </a:rPr>
              <a:t>ser-friendly for newcomers.</a:t>
            </a:r>
          </a:p>
          <a:p>
            <a:pPr algn="l">
              <a:lnSpc>
                <a:spcPts val="2940"/>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2151036" y="-1371016"/>
            <a:ext cx="20814942" cy="8920785"/>
          </a:xfrm>
          <a:custGeom>
            <a:avLst/>
            <a:gdLst/>
            <a:ahLst/>
            <a:cxnLst/>
            <a:rect r="r" b="b" t="t" l="l"/>
            <a:pathLst>
              <a:path h="8920785" w="20814942">
                <a:moveTo>
                  <a:pt x="0" y="0"/>
                </a:moveTo>
                <a:lnTo>
                  <a:pt x="20814942" y="0"/>
                </a:lnTo>
                <a:lnTo>
                  <a:pt x="20814942" y="8920785"/>
                </a:lnTo>
                <a:lnTo>
                  <a:pt x="0" y="8920785"/>
                </a:lnTo>
                <a:lnTo>
                  <a:pt x="0" y="0"/>
                </a:lnTo>
                <a:close/>
              </a:path>
            </a:pathLst>
          </a:custGeom>
          <a:blipFill>
            <a:blip r:embed="rId2">
              <a:alphaModFix amt="60000"/>
            </a:blip>
            <a:stretch>
              <a:fillRect l="-539" t="0" r="-539" b="0"/>
            </a:stretch>
          </a:blipFill>
        </p:spPr>
      </p:sp>
      <p:sp>
        <p:nvSpPr>
          <p:cNvPr name="AutoShape 3" id="3"/>
          <p:cNvSpPr/>
          <p:nvPr/>
        </p:nvSpPr>
        <p:spPr>
          <a:xfrm rot="0">
            <a:off x="1190625" y="5133975"/>
            <a:ext cx="16068675" cy="0"/>
          </a:xfrm>
          <a:prstGeom prst="line">
            <a:avLst/>
          </a:prstGeom>
          <a:ln cap="rnd" w="19050">
            <a:solidFill>
              <a:srgbClr val="FFFFFF"/>
            </a:solidFill>
            <a:prstDash val="solid"/>
            <a:headEnd type="none" len="sm" w="sm"/>
            <a:tailEnd type="none" len="sm" w="sm"/>
          </a:ln>
        </p:spPr>
      </p:sp>
      <p:grpSp>
        <p:nvGrpSpPr>
          <p:cNvPr name="Group 4" id="4"/>
          <p:cNvGrpSpPr/>
          <p:nvPr/>
        </p:nvGrpSpPr>
        <p:grpSpPr>
          <a:xfrm rot="0">
            <a:off x="1028700" y="4981575"/>
            <a:ext cx="323850" cy="323850"/>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grpSp>
        <p:nvGrpSpPr>
          <p:cNvPr name="Group 6" id="6"/>
          <p:cNvGrpSpPr/>
          <p:nvPr/>
        </p:nvGrpSpPr>
        <p:grpSpPr>
          <a:xfrm rot="0">
            <a:off x="4420890" y="4972050"/>
            <a:ext cx="323850" cy="323850"/>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grpSp>
        <p:nvGrpSpPr>
          <p:cNvPr name="Group 8" id="8"/>
          <p:cNvGrpSpPr/>
          <p:nvPr/>
        </p:nvGrpSpPr>
        <p:grpSpPr>
          <a:xfrm rot="0">
            <a:off x="7813081" y="4981575"/>
            <a:ext cx="323850" cy="323850"/>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grpSp>
        <p:nvGrpSpPr>
          <p:cNvPr name="Group 10" id="10"/>
          <p:cNvGrpSpPr/>
          <p:nvPr/>
        </p:nvGrpSpPr>
        <p:grpSpPr>
          <a:xfrm rot="0">
            <a:off x="14597691" y="4981575"/>
            <a:ext cx="323850" cy="323850"/>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sp>
        <p:nvSpPr>
          <p:cNvPr name="TextBox 12" id="12"/>
          <p:cNvSpPr txBox="true"/>
          <p:nvPr/>
        </p:nvSpPr>
        <p:spPr>
          <a:xfrm rot="0">
            <a:off x="1028700" y="5943600"/>
            <a:ext cx="2661609" cy="540385"/>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FFFFFF"/>
                </a:solidFill>
                <a:latin typeface="Poppins Bold"/>
                <a:ea typeface="Poppins Bold"/>
                <a:cs typeface="Poppins Bold"/>
                <a:sym typeface="Poppins Bold"/>
              </a:rPr>
              <a:t>October 10</a:t>
            </a:r>
          </a:p>
        </p:txBody>
      </p:sp>
      <p:sp>
        <p:nvSpPr>
          <p:cNvPr name="TextBox 13" id="13"/>
          <p:cNvSpPr txBox="true"/>
          <p:nvPr/>
        </p:nvSpPr>
        <p:spPr>
          <a:xfrm rot="0">
            <a:off x="1028700" y="6856349"/>
            <a:ext cx="2661609" cy="1198880"/>
          </a:xfrm>
          <a:prstGeom prst="rect">
            <a:avLst/>
          </a:prstGeom>
        </p:spPr>
        <p:txBody>
          <a:bodyPr anchor="t" rtlCol="false" tIns="0" lIns="0" bIns="0" rIns="0">
            <a:spAutoFit/>
          </a:bodyPr>
          <a:lstStyle/>
          <a:p>
            <a:pPr algn="l">
              <a:lnSpc>
                <a:spcPts val="3219"/>
              </a:lnSpc>
            </a:pPr>
            <a:r>
              <a:rPr lang="en-US" sz="2299">
                <a:solidFill>
                  <a:srgbClr val="C3C5C6"/>
                </a:solidFill>
                <a:latin typeface="Poppins"/>
                <a:ea typeface="Poppins"/>
                <a:cs typeface="Poppins"/>
                <a:sym typeface="Poppins"/>
              </a:rPr>
              <a:t>Define MCP tools and set up data pipeline</a:t>
            </a:r>
          </a:p>
        </p:txBody>
      </p:sp>
      <p:sp>
        <p:nvSpPr>
          <p:cNvPr name="TextBox 14" id="14"/>
          <p:cNvSpPr txBox="true"/>
          <p:nvPr/>
        </p:nvSpPr>
        <p:spPr>
          <a:xfrm rot="0">
            <a:off x="4420890" y="5943600"/>
            <a:ext cx="2661609" cy="540385"/>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FFFFFF"/>
                </a:solidFill>
                <a:latin typeface="Poppins Bold"/>
                <a:ea typeface="Poppins Bold"/>
                <a:cs typeface="Poppins Bold"/>
                <a:sym typeface="Poppins Bold"/>
              </a:rPr>
              <a:t>October 26</a:t>
            </a:r>
          </a:p>
        </p:txBody>
      </p:sp>
      <p:sp>
        <p:nvSpPr>
          <p:cNvPr name="TextBox 15" id="15"/>
          <p:cNvSpPr txBox="true"/>
          <p:nvPr/>
        </p:nvSpPr>
        <p:spPr>
          <a:xfrm rot="0">
            <a:off x="4420890" y="6856349"/>
            <a:ext cx="2661609" cy="1198880"/>
          </a:xfrm>
          <a:prstGeom prst="rect">
            <a:avLst/>
          </a:prstGeom>
        </p:spPr>
        <p:txBody>
          <a:bodyPr anchor="t" rtlCol="false" tIns="0" lIns="0" bIns="0" rIns="0">
            <a:spAutoFit/>
          </a:bodyPr>
          <a:lstStyle/>
          <a:p>
            <a:pPr algn="l">
              <a:lnSpc>
                <a:spcPts val="3219"/>
              </a:lnSpc>
            </a:pPr>
            <a:r>
              <a:rPr lang="en-US" sz="2299">
                <a:solidFill>
                  <a:srgbClr val="C3C5C6"/>
                </a:solidFill>
                <a:latin typeface="Poppins"/>
                <a:ea typeface="Poppins"/>
                <a:cs typeface="Poppins"/>
                <a:sym typeface="Poppins"/>
              </a:rPr>
              <a:t>Implement probabilistic reasoning model</a:t>
            </a:r>
          </a:p>
        </p:txBody>
      </p:sp>
      <p:sp>
        <p:nvSpPr>
          <p:cNvPr name="TextBox 16" id="16"/>
          <p:cNvSpPr txBox="true"/>
          <p:nvPr/>
        </p:nvSpPr>
        <p:spPr>
          <a:xfrm rot="0">
            <a:off x="7813081" y="5943600"/>
            <a:ext cx="2661609" cy="540385"/>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FFFFFF"/>
                </a:solidFill>
                <a:latin typeface="Poppins Bold"/>
                <a:ea typeface="Poppins Bold"/>
                <a:cs typeface="Poppins Bold"/>
                <a:sym typeface="Poppins Bold"/>
              </a:rPr>
              <a:t>November 8</a:t>
            </a:r>
          </a:p>
        </p:txBody>
      </p:sp>
      <p:sp>
        <p:nvSpPr>
          <p:cNvPr name="TextBox 17" id="17"/>
          <p:cNvSpPr txBox="true"/>
          <p:nvPr/>
        </p:nvSpPr>
        <p:spPr>
          <a:xfrm rot="0">
            <a:off x="7813081" y="6856349"/>
            <a:ext cx="2661609" cy="1598930"/>
          </a:xfrm>
          <a:prstGeom prst="rect">
            <a:avLst/>
          </a:prstGeom>
        </p:spPr>
        <p:txBody>
          <a:bodyPr anchor="t" rtlCol="false" tIns="0" lIns="0" bIns="0" rIns="0">
            <a:spAutoFit/>
          </a:bodyPr>
          <a:lstStyle/>
          <a:p>
            <a:pPr algn="l">
              <a:lnSpc>
                <a:spcPts val="3219"/>
              </a:lnSpc>
            </a:pPr>
            <a:r>
              <a:rPr lang="en-US" sz="2299">
                <a:solidFill>
                  <a:srgbClr val="C3C5C6"/>
                </a:solidFill>
                <a:latin typeface="Poppins"/>
                <a:ea typeface="Poppins"/>
                <a:cs typeface="Poppins"/>
                <a:sym typeface="Poppins"/>
              </a:rPr>
              <a:t>Integrate constraint satisfaction and search tools</a:t>
            </a:r>
          </a:p>
        </p:txBody>
      </p:sp>
      <p:sp>
        <p:nvSpPr>
          <p:cNvPr name="TextBox 18" id="18"/>
          <p:cNvSpPr txBox="true"/>
          <p:nvPr/>
        </p:nvSpPr>
        <p:spPr>
          <a:xfrm rot="0">
            <a:off x="11205271" y="5943600"/>
            <a:ext cx="2879862" cy="540385"/>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FFFFFF"/>
                </a:solidFill>
                <a:latin typeface="Poppins Bold"/>
                <a:ea typeface="Poppins Bold"/>
                <a:cs typeface="Poppins Bold"/>
                <a:sym typeface="Poppins Bold"/>
              </a:rPr>
              <a:t>November 15</a:t>
            </a:r>
          </a:p>
        </p:txBody>
      </p:sp>
      <p:sp>
        <p:nvSpPr>
          <p:cNvPr name="TextBox 19" id="19"/>
          <p:cNvSpPr txBox="true"/>
          <p:nvPr/>
        </p:nvSpPr>
        <p:spPr>
          <a:xfrm rot="0">
            <a:off x="11205271" y="6803009"/>
            <a:ext cx="2661609" cy="798830"/>
          </a:xfrm>
          <a:prstGeom prst="rect">
            <a:avLst/>
          </a:prstGeom>
        </p:spPr>
        <p:txBody>
          <a:bodyPr anchor="t" rtlCol="false" tIns="0" lIns="0" bIns="0" rIns="0">
            <a:spAutoFit/>
          </a:bodyPr>
          <a:lstStyle/>
          <a:p>
            <a:pPr algn="l">
              <a:lnSpc>
                <a:spcPts val="3219"/>
              </a:lnSpc>
            </a:pPr>
            <a:r>
              <a:rPr lang="en-US" sz="2299">
                <a:solidFill>
                  <a:srgbClr val="C3C5C6"/>
                </a:solidFill>
                <a:latin typeface="Poppins"/>
                <a:ea typeface="Poppins"/>
                <a:cs typeface="Poppins"/>
                <a:sym typeface="Poppins"/>
              </a:rPr>
              <a:t>Design and test website</a:t>
            </a:r>
          </a:p>
        </p:txBody>
      </p:sp>
      <p:grpSp>
        <p:nvGrpSpPr>
          <p:cNvPr name="Group 20" id="20"/>
          <p:cNvGrpSpPr/>
          <p:nvPr/>
        </p:nvGrpSpPr>
        <p:grpSpPr>
          <a:xfrm rot="0">
            <a:off x="2359504" y="1891665"/>
            <a:ext cx="2975321" cy="866140"/>
            <a:chOff x="0" y="0"/>
            <a:chExt cx="3967095" cy="1154853"/>
          </a:xfrm>
        </p:grpSpPr>
        <p:sp>
          <p:nvSpPr>
            <p:cNvPr name="TextBox 21" id="21"/>
            <p:cNvSpPr txBox="true"/>
            <p:nvPr/>
          </p:nvSpPr>
          <p:spPr>
            <a:xfrm rot="0">
              <a:off x="0" y="47625"/>
              <a:ext cx="3967095" cy="1081828"/>
            </a:xfrm>
            <a:prstGeom prst="rect">
              <a:avLst/>
            </a:prstGeom>
          </p:spPr>
          <p:txBody>
            <a:bodyPr anchor="t" rtlCol="false" tIns="0" lIns="0" bIns="0" rIns="0">
              <a:spAutoFit/>
            </a:bodyPr>
            <a:lstStyle/>
            <a:p>
              <a:pPr algn="l" marL="0" indent="0" lvl="0">
                <a:lnSpc>
                  <a:spcPts val="5600"/>
                </a:lnSpc>
                <a:spcBef>
                  <a:spcPct val="0"/>
                </a:spcBef>
              </a:pPr>
              <a:r>
                <a:rPr lang="en-US" sz="5600" strike="noStrike" u="none">
                  <a:solidFill>
                    <a:srgbClr val="FFFFFF"/>
                  </a:solidFill>
                  <a:latin typeface="Poppins Light"/>
                  <a:ea typeface="Poppins Light"/>
                  <a:cs typeface="Poppins Light"/>
                  <a:sym typeface="Poppins Light"/>
                </a:rPr>
                <a:t>TIMELINE</a:t>
              </a:r>
            </a:p>
          </p:txBody>
        </p:sp>
        <p:sp>
          <p:nvSpPr>
            <p:cNvPr name="AutoShape 22" id="22"/>
            <p:cNvSpPr/>
            <p:nvPr/>
          </p:nvSpPr>
          <p:spPr>
            <a:xfrm>
              <a:off x="0" y="1129453"/>
              <a:ext cx="757197" cy="0"/>
            </a:xfrm>
            <a:prstGeom prst="line">
              <a:avLst/>
            </a:prstGeom>
            <a:ln cap="flat" w="50800">
              <a:solidFill>
                <a:srgbClr val="D2B99A"/>
              </a:solidFill>
              <a:prstDash val="solid"/>
              <a:headEnd type="none" len="sm" w="sm"/>
              <a:tailEnd type="none" len="sm" w="sm"/>
            </a:ln>
          </p:spPr>
        </p:sp>
      </p:grpSp>
      <p:sp>
        <p:nvSpPr>
          <p:cNvPr name="TextBox 23" id="23"/>
          <p:cNvSpPr txBox="true"/>
          <p:nvPr/>
        </p:nvSpPr>
        <p:spPr>
          <a:xfrm rot="0">
            <a:off x="14597691" y="6856349"/>
            <a:ext cx="2661609" cy="1198880"/>
          </a:xfrm>
          <a:prstGeom prst="rect">
            <a:avLst/>
          </a:prstGeom>
        </p:spPr>
        <p:txBody>
          <a:bodyPr anchor="t" rtlCol="false" tIns="0" lIns="0" bIns="0" rIns="0">
            <a:spAutoFit/>
          </a:bodyPr>
          <a:lstStyle/>
          <a:p>
            <a:pPr algn="l">
              <a:lnSpc>
                <a:spcPts val="3219"/>
              </a:lnSpc>
            </a:pPr>
            <a:r>
              <a:rPr lang="en-US" sz="2299">
                <a:solidFill>
                  <a:srgbClr val="C3C5C6"/>
                </a:solidFill>
                <a:latin typeface="Poppins"/>
                <a:ea typeface="Poppins"/>
                <a:cs typeface="Poppins"/>
                <a:sym typeface="Poppins"/>
              </a:rPr>
              <a:t>Have a final project and write report</a:t>
            </a:r>
          </a:p>
        </p:txBody>
      </p:sp>
      <p:sp>
        <p:nvSpPr>
          <p:cNvPr name="TextBox 24" id="24"/>
          <p:cNvSpPr txBox="true"/>
          <p:nvPr/>
        </p:nvSpPr>
        <p:spPr>
          <a:xfrm rot="0">
            <a:off x="14597691" y="5943600"/>
            <a:ext cx="2894413" cy="540385"/>
          </a:xfrm>
          <a:prstGeom prst="rect">
            <a:avLst/>
          </a:prstGeom>
        </p:spPr>
        <p:txBody>
          <a:bodyPr anchor="t" rtlCol="false" tIns="0" lIns="0" bIns="0" rIns="0">
            <a:spAutoFit/>
          </a:bodyPr>
          <a:lstStyle/>
          <a:p>
            <a:pPr algn="l" marL="0" indent="0" lvl="0">
              <a:lnSpc>
                <a:spcPts val="4159"/>
              </a:lnSpc>
              <a:spcBef>
                <a:spcPct val="0"/>
              </a:spcBef>
            </a:pPr>
            <a:r>
              <a:rPr lang="en-US" b="true" sz="3199">
                <a:solidFill>
                  <a:srgbClr val="FFFFFF"/>
                </a:solidFill>
                <a:latin typeface="Poppins Bold"/>
                <a:ea typeface="Poppins Bold"/>
                <a:cs typeface="Poppins Bold"/>
                <a:sym typeface="Poppins Bold"/>
              </a:rPr>
              <a:t>November 23</a:t>
            </a:r>
          </a:p>
        </p:txBody>
      </p:sp>
      <p:grpSp>
        <p:nvGrpSpPr>
          <p:cNvPr name="Group 25" id="25"/>
          <p:cNvGrpSpPr/>
          <p:nvPr/>
        </p:nvGrpSpPr>
        <p:grpSpPr>
          <a:xfrm rot="0">
            <a:off x="11205271" y="4981575"/>
            <a:ext cx="323850" cy="323850"/>
            <a:chOff x="0" y="0"/>
            <a:chExt cx="6350000" cy="6350000"/>
          </a:xfrm>
        </p:grpSpPr>
        <p:sp>
          <p:nvSpPr>
            <p:cNvPr name="Freeform 26" id="2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2169819" y="-2496048"/>
            <a:ext cx="21842778" cy="9261338"/>
          </a:xfrm>
          <a:custGeom>
            <a:avLst/>
            <a:gdLst/>
            <a:ahLst/>
            <a:cxnLst/>
            <a:rect r="r" b="b" t="t" l="l"/>
            <a:pathLst>
              <a:path h="9261338" w="21842778">
                <a:moveTo>
                  <a:pt x="0" y="0"/>
                </a:moveTo>
                <a:lnTo>
                  <a:pt x="21842778" y="0"/>
                </a:lnTo>
                <a:lnTo>
                  <a:pt x="21842778" y="9261338"/>
                </a:lnTo>
                <a:lnTo>
                  <a:pt x="0" y="9261338"/>
                </a:lnTo>
                <a:lnTo>
                  <a:pt x="0" y="0"/>
                </a:lnTo>
                <a:close/>
              </a:path>
            </a:pathLst>
          </a:custGeom>
          <a:blipFill>
            <a:blip r:embed="rId2">
              <a:alphaModFix amt="60000"/>
            </a:blip>
            <a:stretch>
              <a:fillRect l="0" t="0" r="0" b="0"/>
            </a:stretch>
          </a:blipFill>
        </p:spPr>
      </p:sp>
      <p:sp>
        <p:nvSpPr>
          <p:cNvPr name="AutoShape 3" id="3"/>
          <p:cNvSpPr/>
          <p:nvPr/>
        </p:nvSpPr>
        <p:spPr>
          <a:xfrm>
            <a:off x="2571750" y="2866444"/>
            <a:ext cx="567898" cy="0"/>
          </a:xfrm>
          <a:prstGeom prst="line">
            <a:avLst/>
          </a:prstGeom>
          <a:ln cap="flat" w="38100">
            <a:solidFill>
              <a:srgbClr val="D2B99A"/>
            </a:solidFill>
            <a:prstDash val="solid"/>
            <a:headEnd type="none" len="sm" w="sm"/>
            <a:tailEnd type="none" len="sm" w="sm"/>
          </a:ln>
        </p:spPr>
      </p:sp>
      <p:sp>
        <p:nvSpPr>
          <p:cNvPr name="Freeform 4" id="4"/>
          <p:cNvSpPr/>
          <p:nvPr/>
        </p:nvSpPr>
        <p:spPr>
          <a:xfrm flipH="false" flipV="false" rot="0">
            <a:off x="3399497" y="5578984"/>
            <a:ext cx="1073063" cy="1167143"/>
          </a:xfrm>
          <a:custGeom>
            <a:avLst/>
            <a:gdLst/>
            <a:ahLst/>
            <a:cxnLst/>
            <a:rect r="r" b="b" t="t" l="l"/>
            <a:pathLst>
              <a:path h="1167143" w="1073063">
                <a:moveTo>
                  <a:pt x="0" y="0"/>
                </a:moveTo>
                <a:lnTo>
                  <a:pt x="1073063" y="0"/>
                </a:lnTo>
                <a:lnTo>
                  <a:pt x="1073063" y="1167143"/>
                </a:lnTo>
                <a:lnTo>
                  <a:pt x="0" y="11671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880532" y="5578984"/>
            <a:ext cx="1110814" cy="1186306"/>
          </a:xfrm>
          <a:custGeom>
            <a:avLst/>
            <a:gdLst/>
            <a:ahLst/>
            <a:cxnLst/>
            <a:rect r="r" b="b" t="t" l="l"/>
            <a:pathLst>
              <a:path h="1186306" w="1110814">
                <a:moveTo>
                  <a:pt x="0" y="0"/>
                </a:moveTo>
                <a:lnTo>
                  <a:pt x="1110814" y="0"/>
                </a:lnTo>
                <a:lnTo>
                  <a:pt x="1110814" y="1186306"/>
                </a:lnTo>
                <a:lnTo>
                  <a:pt x="0" y="11863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8751570" y="5578984"/>
            <a:ext cx="1186306" cy="1186306"/>
          </a:xfrm>
          <a:custGeom>
            <a:avLst/>
            <a:gdLst/>
            <a:ahLst/>
            <a:cxnLst/>
            <a:rect r="r" b="b" t="t" l="l"/>
            <a:pathLst>
              <a:path h="1186306" w="1186306">
                <a:moveTo>
                  <a:pt x="0" y="0"/>
                </a:moveTo>
                <a:lnTo>
                  <a:pt x="1186306" y="0"/>
                </a:lnTo>
                <a:lnTo>
                  <a:pt x="1186306" y="1186306"/>
                </a:lnTo>
                <a:lnTo>
                  <a:pt x="0" y="11863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2571750" y="1952625"/>
            <a:ext cx="8743599"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EXPECTED CONCLUSIONS</a:t>
            </a:r>
            <a:r>
              <a:rPr lang="en-US" sz="5600">
                <a:solidFill>
                  <a:srgbClr val="FFFFFF"/>
                </a:solidFill>
                <a:latin typeface="Poppins Light"/>
                <a:ea typeface="Poppins Light"/>
                <a:cs typeface="Poppins Light"/>
                <a:sym typeface="Poppins Light"/>
              </a:rPr>
              <a:t> </a:t>
            </a:r>
          </a:p>
        </p:txBody>
      </p:sp>
      <p:sp>
        <p:nvSpPr>
          <p:cNvPr name="TextBox 8" id="8"/>
          <p:cNvSpPr txBox="true"/>
          <p:nvPr/>
        </p:nvSpPr>
        <p:spPr>
          <a:xfrm rot="0">
            <a:off x="2571750" y="3431510"/>
            <a:ext cx="14208455" cy="956310"/>
          </a:xfrm>
          <a:prstGeom prst="rect">
            <a:avLst/>
          </a:prstGeom>
        </p:spPr>
        <p:txBody>
          <a:bodyPr anchor="t" rtlCol="false" tIns="0" lIns="0" bIns="0" rIns="0">
            <a:spAutoFit/>
          </a:bodyPr>
          <a:lstStyle/>
          <a:p>
            <a:pPr algn="l">
              <a:lnSpc>
                <a:spcPts val="2400"/>
              </a:lnSpc>
              <a:spcBef>
                <a:spcPct val="0"/>
              </a:spcBef>
            </a:pPr>
            <a:r>
              <a:rPr lang="en-US" sz="2400">
                <a:solidFill>
                  <a:srgbClr val="FFFFFF"/>
                </a:solidFill>
                <a:latin typeface="Poppins Light"/>
                <a:ea typeface="Poppins Light"/>
                <a:cs typeface="Poppins Light"/>
                <a:sym typeface="Poppins Light"/>
              </a:rPr>
              <a:t>The project demonstrates how MCP enables flexible AI orchestration, allowing the system to reason across multiple tools, and using this MCP framework allows modular and explainable AI decision making in complex environments like Forex.</a:t>
            </a:r>
          </a:p>
        </p:txBody>
      </p:sp>
      <p:sp>
        <p:nvSpPr>
          <p:cNvPr name="TextBox 9" id="9"/>
          <p:cNvSpPr txBox="true"/>
          <p:nvPr/>
        </p:nvSpPr>
        <p:spPr>
          <a:xfrm rot="0">
            <a:off x="2571750" y="6874438"/>
            <a:ext cx="3937635" cy="509905"/>
          </a:xfrm>
          <a:prstGeom prst="rect">
            <a:avLst/>
          </a:prstGeom>
        </p:spPr>
        <p:txBody>
          <a:bodyPr anchor="t" rtlCol="false" tIns="0" lIns="0" bIns="0" rIns="0">
            <a:spAutoFit/>
          </a:bodyPr>
          <a:lstStyle/>
          <a:p>
            <a:pPr algn="l">
              <a:lnSpc>
                <a:spcPts val="3919"/>
              </a:lnSpc>
            </a:pPr>
            <a:r>
              <a:rPr lang="en-US" sz="2799">
                <a:solidFill>
                  <a:srgbClr val="FFFFFF"/>
                </a:solidFill>
                <a:latin typeface="Poppins"/>
                <a:ea typeface="Poppins"/>
                <a:cs typeface="Poppins"/>
                <a:sym typeface="Poppins"/>
              </a:rPr>
              <a:t>Beginner Friendly</a:t>
            </a:r>
          </a:p>
        </p:txBody>
      </p:sp>
      <p:sp>
        <p:nvSpPr>
          <p:cNvPr name="TextBox 10" id="10"/>
          <p:cNvSpPr txBox="true"/>
          <p:nvPr/>
        </p:nvSpPr>
        <p:spPr>
          <a:xfrm rot="0">
            <a:off x="7707160" y="6874438"/>
            <a:ext cx="3937635" cy="509905"/>
          </a:xfrm>
          <a:prstGeom prst="rect">
            <a:avLst/>
          </a:prstGeom>
        </p:spPr>
        <p:txBody>
          <a:bodyPr anchor="t" rtlCol="false" tIns="0" lIns="0" bIns="0" rIns="0">
            <a:spAutoFit/>
          </a:bodyPr>
          <a:lstStyle/>
          <a:p>
            <a:pPr algn="l">
              <a:lnSpc>
                <a:spcPts val="3919"/>
              </a:lnSpc>
            </a:pPr>
            <a:r>
              <a:rPr lang="en-US" sz="2799">
                <a:solidFill>
                  <a:srgbClr val="FFFFFF"/>
                </a:solidFill>
                <a:latin typeface="Poppins"/>
                <a:ea typeface="Poppins"/>
                <a:cs typeface="Poppins"/>
                <a:sym typeface="Poppins"/>
              </a:rPr>
              <a:t>AI Personalization</a:t>
            </a:r>
          </a:p>
        </p:txBody>
      </p:sp>
      <p:sp>
        <p:nvSpPr>
          <p:cNvPr name="TextBox 11" id="11"/>
          <p:cNvSpPr txBox="true"/>
          <p:nvPr/>
        </p:nvSpPr>
        <p:spPr>
          <a:xfrm rot="0">
            <a:off x="12842570" y="6765177"/>
            <a:ext cx="3937635" cy="1005205"/>
          </a:xfrm>
          <a:prstGeom prst="rect">
            <a:avLst/>
          </a:prstGeom>
        </p:spPr>
        <p:txBody>
          <a:bodyPr anchor="t" rtlCol="false" tIns="0" lIns="0" bIns="0" rIns="0">
            <a:spAutoFit/>
          </a:bodyPr>
          <a:lstStyle/>
          <a:p>
            <a:pPr algn="l">
              <a:lnSpc>
                <a:spcPts val="3919"/>
              </a:lnSpc>
            </a:pPr>
            <a:r>
              <a:rPr lang="en-US" sz="2799">
                <a:solidFill>
                  <a:srgbClr val="FFFFFF"/>
                </a:solidFill>
                <a:latin typeface="Poppins"/>
                <a:ea typeface="Poppins"/>
                <a:cs typeface="Poppins"/>
                <a:sym typeface="Poppins"/>
              </a:rPr>
              <a:t>Innovation &amp; Real World Application</a:t>
            </a:r>
          </a:p>
        </p:txBody>
      </p:sp>
      <p:sp>
        <p:nvSpPr>
          <p:cNvPr name="TextBox 12" id="12"/>
          <p:cNvSpPr txBox="true"/>
          <p:nvPr/>
        </p:nvSpPr>
        <p:spPr>
          <a:xfrm rot="0">
            <a:off x="2569375" y="7713233"/>
            <a:ext cx="3937635" cy="1268730"/>
          </a:xfrm>
          <a:prstGeom prst="rect">
            <a:avLst/>
          </a:prstGeom>
        </p:spPr>
        <p:txBody>
          <a:bodyPr anchor="t" rtlCol="false" tIns="0" lIns="0" bIns="0" rIns="0">
            <a:spAutoFit/>
          </a:bodyPr>
          <a:lstStyle/>
          <a:p>
            <a:pPr algn="l">
              <a:lnSpc>
                <a:spcPts val="2519"/>
              </a:lnSpc>
            </a:pPr>
            <a:r>
              <a:rPr lang="en-US" sz="1799">
                <a:solidFill>
                  <a:srgbClr val="C3C5C6"/>
                </a:solidFill>
                <a:latin typeface="Poppins Light"/>
                <a:ea typeface="Poppins Light"/>
                <a:cs typeface="Poppins Light"/>
                <a:sym typeface="Poppins Light"/>
              </a:rPr>
              <a:t>This platform offers new traders a safe space to learn forex through interactive lessons, simulations, and AI insights.</a:t>
            </a:r>
          </a:p>
        </p:txBody>
      </p:sp>
      <p:sp>
        <p:nvSpPr>
          <p:cNvPr name="TextBox 13" id="13"/>
          <p:cNvSpPr txBox="true"/>
          <p:nvPr/>
        </p:nvSpPr>
        <p:spPr>
          <a:xfrm rot="0">
            <a:off x="7707160" y="7600243"/>
            <a:ext cx="3937635" cy="1897380"/>
          </a:xfrm>
          <a:prstGeom prst="rect">
            <a:avLst/>
          </a:prstGeom>
        </p:spPr>
        <p:txBody>
          <a:bodyPr anchor="t" rtlCol="false" tIns="0" lIns="0" bIns="0" rIns="0">
            <a:spAutoFit/>
          </a:bodyPr>
          <a:lstStyle/>
          <a:p>
            <a:pPr algn="l">
              <a:lnSpc>
                <a:spcPts val="2519"/>
              </a:lnSpc>
            </a:pPr>
            <a:r>
              <a:rPr lang="en-US" sz="1799">
                <a:solidFill>
                  <a:srgbClr val="C3C5C6"/>
                </a:solidFill>
                <a:latin typeface="Poppins Light"/>
                <a:ea typeface="Poppins Light"/>
                <a:cs typeface="Poppins Light"/>
                <a:sym typeface="Poppins Light"/>
              </a:rPr>
              <a:t>Using AI, we help users analyze forex policies and tailor the experience to their needs. The project showcases how MCP enables flexible AI orchestration across multiple tools.</a:t>
            </a:r>
          </a:p>
        </p:txBody>
      </p:sp>
      <p:sp>
        <p:nvSpPr>
          <p:cNvPr name="TextBox 14" id="14"/>
          <p:cNvSpPr txBox="true"/>
          <p:nvPr/>
        </p:nvSpPr>
        <p:spPr>
          <a:xfrm rot="0">
            <a:off x="12844945" y="7822494"/>
            <a:ext cx="3937635" cy="1268730"/>
          </a:xfrm>
          <a:prstGeom prst="rect">
            <a:avLst/>
          </a:prstGeom>
        </p:spPr>
        <p:txBody>
          <a:bodyPr anchor="t" rtlCol="false" tIns="0" lIns="0" bIns="0" rIns="0">
            <a:spAutoFit/>
          </a:bodyPr>
          <a:lstStyle/>
          <a:p>
            <a:pPr algn="l">
              <a:lnSpc>
                <a:spcPts val="2519"/>
              </a:lnSpc>
            </a:pPr>
            <a:r>
              <a:rPr lang="en-US" sz="1799">
                <a:solidFill>
                  <a:srgbClr val="C3C5C6"/>
                </a:solidFill>
                <a:latin typeface="Poppins Light"/>
                <a:ea typeface="Poppins Light"/>
                <a:cs typeface="Poppins Light"/>
                <a:sym typeface="Poppins Light"/>
              </a:rPr>
              <a:t>While not guaranteeing profit, results will show measurable improvements in decision consistency and reasoning clarity.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369366" y="-743991"/>
            <a:ext cx="20814942" cy="8825535"/>
          </a:xfrm>
          <a:custGeom>
            <a:avLst/>
            <a:gdLst/>
            <a:ahLst/>
            <a:cxnLst/>
            <a:rect r="r" b="b" t="t" l="l"/>
            <a:pathLst>
              <a:path h="8825535" w="20814942">
                <a:moveTo>
                  <a:pt x="0" y="0"/>
                </a:moveTo>
                <a:lnTo>
                  <a:pt x="20814943" y="0"/>
                </a:lnTo>
                <a:lnTo>
                  <a:pt x="20814943" y="8825536"/>
                </a:lnTo>
                <a:lnTo>
                  <a:pt x="0" y="8825536"/>
                </a:lnTo>
                <a:lnTo>
                  <a:pt x="0" y="0"/>
                </a:lnTo>
                <a:close/>
              </a:path>
            </a:pathLst>
          </a:custGeom>
          <a:blipFill>
            <a:blip r:embed="rId2">
              <a:alphaModFix amt="60000"/>
            </a:blip>
            <a:stretch>
              <a:fillRect l="0" t="0" r="0" b="0"/>
            </a:stretch>
          </a:blipFill>
        </p:spPr>
      </p:sp>
      <p:sp>
        <p:nvSpPr>
          <p:cNvPr name="AutoShape 3" id="3"/>
          <p:cNvSpPr/>
          <p:nvPr/>
        </p:nvSpPr>
        <p:spPr>
          <a:xfrm>
            <a:off x="2571750" y="2866444"/>
            <a:ext cx="567898" cy="0"/>
          </a:xfrm>
          <a:prstGeom prst="line">
            <a:avLst/>
          </a:prstGeom>
          <a:ln cap="flat" w="38100">
            <a:solidFill>
              <a:srgbClr val="D2B99A"/>
            </a:solidFill>
            <a:prstDash val="solid"/>
            <a:headEnd type="none" len="sm" w="sm"/>
            <a:tailEnd type="none" len="sm" w="sm"/>
          </a:ln>
        </p:spPr>
      </p:sp>
      <p:sp>
        <p:nvSpPr>
          <p:cNvPr name="TextBox 4" id="4"/>
          <p:cNvSpPr txBox="true"/>
          <p:nvPr/>
        </p:nvSpPr>
        <p:spPr>
          <a:xfrm rot="0">
            <a:off x="2571750" y="2066979"/>
            <a:ext cx="5235773" cy="799465"/>
          </a:xfrm>
          <a:prstGeom prst="rect">
            <a:avLst/>
          </a:prstGeom>
        </p:spPr>
        <p:txBody>
          <a:bodyPr anchor="t" rtlCol="false" tIns="0" lIns="0" bIns="0" rIns="0">
            <a:spAutoFit/>
          </a:bodyPr>
          <a:lstStyle/>
          <a:p>
            <a:pPr algn="ctr">
              <a:lnSpc>
                <a:spcPts val="5600"/>
              </a:lnSpc>
              <a:spcBef>
                <a:spcPct val="0"/>
              </a:spcBef>
            </a:pPr>
            <a:r>
              <a:rPr lang="en-US" sz="5600">
                <a:solidFill>
                  <a:srgbClr val="FFFFFF"/>
                </a:solidFill>
                <a:latin typeface="Poppins Light"/>
                <a:ea typeface="Poppins Light"/>
                <a:cs typeface="Poppins Light"/>
                <a:sym typeface="Poppins Light"/>
              </a:rPr>
              <a:t>Learning Goals</a:t>
            </a:r>
          </a:p>
        </p:txBody>
      </p:sp>
      <p:sp>
        <p:nvSpPr>
          <p:cNvPr name="TextBox 5" id="5"/>
          <p:cNvSpPr txBox="true"/>
          <p:nvPr/>
        </p:nvSpPr>
        <p:spPr>
          <a:xfrm rot="0">
            <a:off x="2571750" y="3628891"/>
            <a:ext cx="6083077" cy="4010025"/>
          </a:xfrm>
          <a:prstGeom prst="rect">
            <a:avLst/>
          </a:prstGeom>
        </p:spPr>
        <p:txBody>
          <a:bodyPr anchor="t" rtlCol="false" tIns="0" lIns="0" bIns="0" rIns="0">
            <a:spAutoFit/>
          </a:bodyPr>
          <a:lstStyle/>
          <a:p>
            <a:pPr algn="l">
              <a:lnSpc>
                <a:spcPts val="3149"/>
              </a:lnSpc>
            </a:pPr>
            <a:r>
              <a:rPr lang="en-US" sz="2250" b="true">
                <a:solidFill>
                  <a:srgbClr val="FFFFFF"/>
                </a:solidFill>
                <a:latin typeface="Poppins Bold"/>
                <a:ea typeface="Poppins Bold"/>
                <a:cs typeface="Poppins Bold"/>
                <a:sym typeface="Poppins Bold"/>
              </a:rPr>
              <a:t>Individual Learning</a:t>
            </a:r>
          </a:p>
          <a:p>
            <a:pPr algn="l">
              <a:lnSpc>
                <a:spcPts val="3149"/>
              </a:lnSpc>
            </a:pPr>
          </a:p>
          <a:p>
            <a:pPr algn="l" marL="485775" indent="-242888" lvl="1">
              <a:lnSpc>
                <a:spcPts val="3149"/>
              </a:lnSpc>
              <a:buFont typeface="Arial"/>
              <a:buChar char="•"/>
            </a:pPr>
            <a:r>
              <a:rPr lang="en-US" sz="2250">
                <a:solidFill>
                  <a:srgbClr val="C3C5C6"/>
                </a:solidFill>
                <a:latin typeface="Poppins"/>
                <a:ea typeface="Poppins"/>
                <a:cs typeface="Poppins"/>
                <a:sym typeface="Poppins"/>
              </a:rPr>
              <a:t>Implementing</a:t>
            </a:r>
            <a:r>
              <a:rPr lang="en-US" sz="2250">
                <a:solidFill>
                  <a:srgbClr val="C3C5C6"/>
                </a:solidFill>
                <a:latin typeface="Poppins"/>
                <a:ea typeface="Poppins"/>
                <a:cs typeface="Poppins"/>
                <a:sym typeface="Poppins"/>
              </a:rPr>
              <a:t> and integrating MCP tools into an application</a:t>
            </a:r>
          </a:p>
          <a:p>
            <a:pPr algn="l" marL="485775" indent="-242888" lvl="1">
              <a:lnSpc>
                <a:spcPts val="3149"/>
              </a:lnSpc>
              <a:buFont typeface="Arial"/>
              <a:buChar char="•"/>
            </a:pPr>
            <a:r>
              <a:rPr lang="en-US" sz="2250">
                <a:solidFill>
                  <a:srgbClr val="C3C5C6"/>
                </a:solidFill>
                <a:latin typeface="Poppins"/>
                <a:ea typeface="Poppins"/>
                <a:cs typeface="Poppins"/>
                <a:sym typeface="Poppins"/>
              </a:rPr>
              <a:t>Understanding AI reasoning under uncertainty</a:t>
            </a:r>
          </a:p>
          <a:p>
            <a:pPr algn="l" marL="485775" indent="-242888" lvl="1">
              <a:lnSpc>
                <a:spcPts val="3149"/>
              </a:lnSpc>
              <a:buFont typeface="Arial"/>
              <a:buChar char="•"/>
            </a:pPr>
            <a:r>
              <a:rPr lang="en-US" sz="2250">
                <a:solidFill>
                  <a:srgbClr val="C3C5C6"/>
                </a:solidFill>
                <a:latin typeface="Poppins"/>
                <a:ea typeface="Poppins"/>
                <a:cs typeface="Poppins"/>
                <a:sym typeface="Poppins"/>
              </a:rPr>
              <a:t>Developing technical skills in data </a:t>
            </a:r>
            <a:r>
              <a:rPr lang="en-US" sz="2250">
                <a:solidFill>
                  <a:srgbClr val="C3C5C6"/>
                </a:solidFill>
                <a:latin typeface="Poppins"/>
                <a:ea typeface="Poppins"/>
                <a:cs typeface="Poppins"/>
                <a:sym typeface="Poppins"/>
              </a:rPr>
              <a:t>modeling</a:t>
            </a:r>
            <a:r>
              <a:rPr lang="en-US" sz="2250">
                <a:solidFill>
                  <a:srgbClr val="C3C5C6"/>
                </a:solidFill>
                <a:latin typeface="Poppins"/>
                <a:ea typeface="Poppins"/>
                <a:cs typeface="Poppins"/>
                <a:sym typeface="Poppins"/>
              </a:rPr>
              <a:t>, search algorithms , and probabilistic methods</a:t>
            </a:r>
          </a:p>
          <a:p>
            <a:pPr algn="l">
              <a:lnSpc>
                <a:spcPts val="3149"/>
              </a:lnSpc>
            </a:pPr>
          </a:p>
        </p:txBody>
      </p:sp>
      <p:sp>
        <p:nvSpPr>
          <p:cNvPr name="TextBox 6" id="6"/>
          <p:cNvSpPr txBox="true"/>
          <p:nvPr/>
        </p:nvSpPr>
        <p:spPr>
          <a:xfrm rot="0">
            <a:off x="9004288" y="3628891"/>
            <a:ext cx="7441289" cy="3609975"/>
          </a:xfrm>
          <a:prstGeom prst="rect">
            <a:avLst/>
          </a:prstGeom>
        </p:spPr>
        <p:txBody>
          <a:bodyPr anchor="t" rtlCol="false" tIns="0" lIns="0" bIns="0" rIns="0">
            <a:spAutoFit/>
          </a:bodyPr>
          <a:lstStyle/>
          <a:p>
            <a:pPr algn="l">
              <a:lnSpc>
                <a:spcPts val="3149"/>
              </a:lnSpc>
            </a:pPr>
            <a:r>
              <a:rPr lang="en-US" sz="2250" b="true">
                <a:solidFill>
                  <a:srgbClr val="FFFFFF"/>
                </a:solidFill>
                <a:latin typeface="Poppins Bold"/>
                <a:ea typeface="Poppins Bold"/>
                <a:cs typeface="Poppins Bold"/>
                <a:sym typeface="Poppins Bold"/>
              </a:rPr>
              <a:t>Group Learning</a:t>
            </a:r>
          </a:p>
          <a:p>
            <a:pPr algn="l">
              <a:lnSpc>
                <a:spcPts val="3149"/>
              </a:lnSpc>
            </a:pPr>
          </a:p>
          <a:p>
            <a:pPr algn="l" marL="485775" indent="-242888" lvl="1">
              <a:lnSpc>
                <a:spcPts val="3149"/>
              </a:lnSpc>
              <a:buFont typeface="Arial"/>
              <a:buChar char="•"/>
            </a:pPr>
            <a:r>
              <a:rPr lang="en-US" sz="2250">
                <a:solidFill>
                  <a:srgbClr val="C3C5C6"/>
                </a:solidFill>
                <a:latin typeface="Poppins"/>
                <a:ea typeface="Poppins"/>
                <a:cs typeface="Poppins"/>
                <a:sym typeface="Poppins"/>
              </a:rPr>
              <a:t>Co</a:t>
            </a:r>
            <a:r>
              <a:rPr lang="en-US" sz="2250">
                <a:solidFill>
                  <a:srgbClr val="C3C5C6"/>
                </a:solidFill>
                <a:latin typeface="Poppins"/>
                <a:ea typeface="Poppins"/>
                <a:cs typeface="Poppins"/>
                <a:sym typeface="Poppins"/>
              </a:rPr>
              <a:t>ordinating tool-based AI development within a shared MCP environment</a:t>
            </a:r>
          </a:p>
          <a:p>
            <a:pPr algn="l" marL="485775" indent="-242888" lvl="1">
              <a:lnSpc>
                <a:spcPts val="3149"/>
              </a:lnSpc>
              <a:buFont typeface="Arial"/>
              <a:buChar char="•"/>
            </a:pPr>
            <a:r>
              <a:rPr lang="en-US" sz="2250">
                <a:solidFill>
                  <a:srgbClr val="C3C5C6"/>
                </a:solidFill>
                <a:latin typeface="Poppins"/>
                <a:ea typeface="Poppins"/>
                <a:cs typeface="Poppins"/>
                <a:sym typeface="Poppins"/>
              </a:rPr>
              <a:t>Evaluating AI systems in a real-world domain </a:t>
            </a:r>
          </a:p>
          <a:p>
            <a:pPr algn="l" marL="485775" indent="-242888" lvl="1">
              <a:lnSpc>
                <a:spcPts val="3149"/>
              </a:lnSpc>
              <a:buFont typeface="Arial"/>
              <a:buChar char="•"/>
            </a:pPr>
            <a:r>
              <a:rPr lang="en-US" sz="2250">
                <a:solidFill>
                  <a:srgbClr val="C3C5C6"/>
                </a:solidFill>
                <a:latin typeface="Poppins"/>
                <a:ea typeface="Poppins"/>
                <a:cs typeface="Poppins"/>
                <a:sym typeface="Poppins"/>
              </a:rPr>
              <a:t>Learning how structured reasoning protocols like MCP enhance collaboration and modular design in AI Project</a:t>
            </a:r>
          </a:p>
          <a:p>
            <a:pPr algn="l">
              <a:lnSpc>
                <a:spcPts val="3149"/>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DAG04YTMm7w</dc:identifier>
  <dcterms:modified xsi:type="dcterms:W3CDTF">2011-08-01T06:04:30Z</dcterms:modified>
  <cp:revision>1</cp:revision>
  <dc:title>Dark Blue Gradient Modern Professional Presentation</dc:title>
</cp:coreProperties>
</file>